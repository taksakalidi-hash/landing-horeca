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Солома</c:v>
                </c:pt>
              </c:strCache>
            </c:strRef>
          </c:tx>
          <c:spPr>
            <a:solidFill>
              <a:srgbClr val="AE453A"/>
            </a:solidFill>
            <a:ln w="38100" cap="flat">
              <a:solidFill>
                <a:srgbClr val="AE453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E453A"/>
              </a:solidFill>
              <a:ln w="9525" cap="flat">
                <a:solidFill>
                  <a:srgbClr val="AE453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30 мин</c:v>
                  </c:pt>
                  <c:pt idx="2">
                    <c:v>1 ч</c:v>
                  </c:pt>
                  <c:pt idx="3">
                    <c:v>1,5 ч</c:v>
                  </c:pt>
                  <c:pt idx="4">
                    <c:v>2 ч</c:v>
                  </c:pt>
                  <c:pt idx="5">
                    <c:v>3 ч</c:v>
                  </c:pt>
                  <c:pt idx="6">
                    <c:v>4 ч</c:v>
                  </c:pt>
                  <c:pt idx="7">
                    <c:v>5 ч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20</c:v>
                </c:pt>
                <c:pt idx="1">
                  <c:v>95</c:v>
                </c:pt>
                <c:pt idx="2">
                  <c:v>62</c:v>
                </c:pt>
                <c:pt idx="3">
                  <c:v>26</c:v>
                </c:pt>
                <c:pt idx="4">
                  <c:v>16</c:v>
                </c:pt>
                <c:pt idx="5">
                  <c:v>13</c:v>
                </c:pt>
                <c:pt idx="6">
                  <c:v>11</c:v>
                </c:pt>
                <c:pt idx="7">
                  <c:v>10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Дрова</c:v>
                </c:pt>
              </c:strCache>
            </c:strRef>
          </c:tx>
          <c:spPr>
            <a:solidFill>
              <a:srgbClr val="4E8F6D"/>
            </a:solidFill>
            <a:ln w="38100" cap="flat">
              <a:solidFill>
                <a:srgbClr val="4E8F6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E8F6D"/>
              </a:solidFill>
              <a:ln w="9525" cap="flat">
                <a:solidFill>
                  <a:srgbClr val="4E8F6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</c:v>
                  </c:pt>
                  <c:pt idx="1">
                    <c:v>30 мин</c:v>
                  </c:pt>
                  <c:pt idx="2">
                    <c:v>1 ч</c:v>
                  </c:pt>
                  <c:pt idx="3">
                    <c:v>1,5 ч</c:v>
                  </c:pt>
                  <c:pt idx="4">
                    <c:v>2 ч</c:v>
                  </c:pt>
                  <c:pt idx="5">
                    <c:v>3 ч</c:v>
                  </c:pt>
                  <c:pt idx="6">
                    <c:v>4 ч</c:v>
                  </c:pt>
                  <c:pt idx="7">
                    <c:v>5 ч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20</c:v>
                </c:pt>
                <c:pt idx="1">
                  <c:v>52</c:v>
                </c:pt>
                <c:pt idx="2">
                  <c:v>66</c:v>
                </c:pt>
                <c:pt idx="3">
                  <c:v>70</c:v>
                </c:pt>
                <c:pt idx="4">
                  <c:v>68</c:v>
                </c:pt>
                <c:pt idx="5">
                  <c:v>63</c:v>
                </c:pt>
                <c:pt idx="6">
                  <c:v>55</c:v>
                </c:pt>
                <c:pt idx="7">
                  <c:v>42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65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5"/>
          <c:min val="0"/>
        </c:scaling>
        <c:delete val="1"/>
        <c:axPos val="l"/>
        <c:majorGridlines>
          <c:spPr>
            <a:ln w="12700" cap="flat">
              <a:solidFill>
                <a:srgbClr val="E0DAC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BF9F5"/>
        </a:solidFill>
        <a:ln w="12700" cap="flat">
          <a:solidFill>
            <a:srgbClr val="FBF9F5"/>
          </a:solidFill>
        </a:ln>
        <a:effectLst/>
      </c:spPr>
    </c:plotArea>
    <c:plotVisOnly val="1"/>
    <c:dispBlanksAs val="span"/>
  </c:chart>
  <c:spPr>
    <a:solidFill>
      <a:srgbClr val="FBF9F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Тарелка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6B4F"/>
              </a:solidFill>
              <a:effectLst/>
            </c:spPr>
          </c:dPt>
          <c:dPt>
            <c:idx val="1"/>
            <c:bubble3D val="0"/>
            <c:spPr>
              <a:solidFill>
                <a:srgbClr val="C89A4B"/>
              </a:solidFill>
              <a:effectLst/>
            </c:spPr>
          </c:dPt>
          <c:dPt>
            <c:idx val="2"/>
            <c:bubble3D val="0"/>
            <c:spPr>
              <a:solidFill>
                <a:srgbClr val="8FA89B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1E2A24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1E2A24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0&quot;%&quot;" sourceLinked="0"/>
              <c:spPr/>
              <c:txPr>
                <a:bodyPr/>
                <a:lstStyle/>
                <a:p>
                  <a:pPr>
                    <a:defRPr sz="1500" b="0" i="0" u="none" strike="noStrike">
                      <a:solidFill>
                        <a:srgbClr val="1E2A24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Клетчатка</c:v>
                </c:pt>
                <c:pt idx="1">
                  <c:v>Белок</c:v>
                </c:pt>
                <c:pt idx="2">
                  <c:v>Сложные углеводы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50</c:v>
                </c:pt>
                <c:pt idx="1">
                  <c:v>25</c:v>
                </c:pt>
                <c:pt idx="2">
                  <c:v>25</c:v>
                </c:pt>
              </c:numCache>
            </c:numRef>
          </c:val>
        </c:ser>
        <c:firstSliceAng val="0"/>
      </c:pieChart>
      <c:spPr>
        <a:solidFill>
          <a:srgbClr val="FBF9F5"/>
        </a:solidFill>
        <a:ln w="12700" cap="flat">
          <a:solidFill>
            <a:srgbClr val="FBF9F5"/>
          </a:solidFill>
        </a:ln>
        <a:effectLst/>
      </c:spPr>
    </c:plotArea>
    <c:plotVisOnly val="1"/>
    <c:dispBlanksAs val="span"/>
  </c:chart>
  <c:spPr>
    <a:solidFill>
      <a:srgbClr val="FBF9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персональный разбор, а не общая лекция о питании. Всё, что дальше, построено на её дневнике. Проговорить вслух: цель — не похудеть любой ценой, а убрать скачки энергии; вес уйдёт следом.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Держать 20–30 секунд. Смысл слайда — снять тревогу: она видит, что разговор конечен и заканчивается конкретным планом, а не списком запретов.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Стартовые цифры в квадратных скобках заполнить перед отправкой. Правую карточку проговорить обязательно: разговор начинается с того, что у неё уже есть, а не с того, что не так.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Главное, что нужно донести: 75 кг — не дедлайн, а направление. Темп 0,4–0,7 кг в неделю назван вслух, чтобы снять ожидание минус пять за месяц. Срок считаем вместе, когда будет стартовый вес.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Тон здесь решает всё. Наблюдения читаются как данные из дневника, а не как претензии. Нижнюю плашку проговорить дословно.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Опорный слайд всей консультации. Если она уйдёт с одной мыслью — пусть уйдёт с этой. Снимает вину и переводит разговор с силы воли на состав тарелки.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Метафора её собственная, из консультации, — держаться за неё. По графику вести пальцем: показать не пик, а провал после него — именно провал она чувствует как «опять хочу сладкого».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Проговорить, что это пропорции одной тарелки, а не суточные калории. Нижняя плашка — мостик к правилу 90/10: она снимает вопрос «а куда девать сладкое».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закрывает арифметику: в прошлой версии проценты тарелки и «10% радости» складывались в 110. Здесь явно сказано, что это разные шкалы — тарелка про приём пищи, 90/10 про день.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 — слово «подстраивается». У неё смены, и жёсткий завтрак по часам она не выдержит. Оба сценария равноправны, выбирать по факту подъёма.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Самый важный слайд для удержания: если она услышит «сладкое можно», план не развалится на третий день. Подчеркнуть слово «сразу» — отложенная конфета через два часа работает уже как «солома».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Ровно два действия, не пять. Сетку внизу распечатать или перерисовать в заметки телефона и отмечать галочкой каждый вечер — это и будет отчёт к следующей встрече.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Смысл — снять зависимость от весов. Четыре шкалы 1–5 отмечать вечером, занимает полминуты. Именно они покажут результат раньше, чем весы.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снимает главный страх перед стартом. Проговорить заранее, до того как срыв случится, — тогда он не станет поводом всё бросить.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Закрыть конкретикой: что она делает завтра утром и когда мы встречаемся снова. Дисклеймер не зачитывать вслух, но он обязан быть в файле.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713232"/>
            <a:ext cx="3931920" cy="54406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074920" y="1234440"/>
            <a:ext cx="643097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C8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ПЕРСОНАЛЬНАЯ КОНСУЛЬТАЦИЯ НУТРИЦИОЛОГА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5074920" y="1600200"/>
            <a:ext cx="643097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к лёгкости</a:t>
            </a:r>
            <a:endParaRPr lang="en-US" sz="5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энергии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074920" y="3456432"/>
            <a:ext cx="64309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A8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Разбор твоего дневника питания и план на первую неделю.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074920" y="4892040"/>
            <a:ext cx="64309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Нутрициолог Ольга Алёхина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074920" y="5321808"/>
            <a:ext cx="643097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C8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Telegram: @olga_nutri_health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5742432"/>
            <a:ext cx="6430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[дата консультации]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856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внутри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19072"/>
            <a:ext cx="108200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Пять шагов — от того, где ты сейчас, до плана на первую неделю.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10820095" cy="3611880"/>
          </a:xfrm>
          <a:prstGeom prst="roundRect">
            <a:avLst>
              <a:gd name="adj" fmla="val 4051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697480"/>
            <a:ext cx="457200" cy="45720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70662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А и точка Б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272491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ты сейчас и куда идём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51560" y="3337560"/>
            <a:ext cx="457200" cy="45720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334670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Твой дневник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336499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наблюдения, которые я в нём увидела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51560" y="3977640"/>
            <a:ext cx="457200" cy="45720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398678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Механика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400507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тянет на сладкое — это физиология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51560" y="4617720"/>
            <a:ext cx="457200" cy="45720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62686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Инструменты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464515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тарелка, гибкий завтрак, правило 90/10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51560" y="5257800"/>
            <a:ext cx="457200" cy="457200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5156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737360" y="526694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212080" y="528523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действия на неделю и что замеряем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856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ты сейчас</a:t>
            </a:r>
            <a:endParaRPr lang="en-US" sz="3600" dirty="0"/>
          </a:p>
        </p:txBody>
      </p:sp>
      <p:pic>
        <p:nvPicPr>
          <p:cNvPr id="4" name="Image 0" descr="icons/Scale_2F6B4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47672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98448" y="18745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spc="80" kern="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 НА СТАРТЕ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298448" y="21122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[указать] кг</a:t>
            </a:r>
            <a:endParaRPr lang="en-US" sz="1800" dirty="0"/>
          </a:p>
        </p:txBody>
      </p:sp>
      <p:pic>
        <p:nvPicPr>
          <p:cNvPr id="7" name="Image 1" descr="icons/Ruler_2F6B4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97480"/>
            <a:ext cx="402336" cy="40233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98448" y="26243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spc="80" kern="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РОСТ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298448" y="28620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[указать] см</a:t>
            </a:r>
            <a:endParaRPr lang="en-US" sz="1800" dirty="0"/>
          </a:p>
        </p:txBody>
      </p:sp>
      <p:pic>
        <p:nvPicPr>
          <p:cNvPr id="10" name="Image 2" descr="icons/AlarmClock_2F6B4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447288"/>
            <a:ext cx="402336" cy="40233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98448" y="3374136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spc="80" kern="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ПОДЪЁМ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1298448" y="3611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4:00–5:00 или 7:00–8:00, по сменам</a:t>
            </a:r>
            <a:endParaRPr lang="en-US" sz="1800" dirty="0"/>
          </a:p>
        </p:txBody>
      </p:sp>
      <p:pic>
        <p:nvPicPr>
          <p:cNvPr id="13" name="Image 3" descr="icons/Package_2F6B4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97096"/>
            <a:ext cx="402336" cy="40233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98448" y="4123944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spc="80" kern="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АКТИВНОСТЬ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1298448" y="43616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бытовая, весь день на ногах</a:t>
            </a:r>
            <a:endParaRPr lang="en-US" sz="1800" dirty="0"/>
          </a:p>
        </p:txBody>
      </p:sp>
      <p:pic>
        <p:nvPicPr>
          <p:cNvPr id="16" name="Image 4" descr="icons/NotebookPen_2F6B4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4946904"/>
            <a:ext cx="402336" cy="40233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98448" y="4873752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spc="80" kern="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ДНЕВНИК ПИТАНИЯ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1298448" y="511149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Ведёшь честно и подробно</a:t>
            </a:r>
            <a:endParaRPr lang="en-US" sz="1800" dirty="0"/>
          </a:p>
        </p:txBody>
      </p:sp>
      <p:sp>
        <p:nvSpPr>
          <p:cNvPr id="19" name="Shape 12"/>
          <p:cNvSpPr/>
          <p:nvPr/>
        </p:nvSpPr>
        <p:spPr>
          <a:xfrm>
            <a:off x="6903720" y="1874520"/>
            <a:ext cx="4599432" cy="4023360"/>
          </a:xfrm>
          <a:prstGeom prst="roundRect">
            <a:avLst>
              <a:gd name="adj" fmla="val 3636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7315200" y="224028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уже работает на тебя</a:t>
            </a:r>
            <a:endParaRPr lang="en-US" sz="2000" dirty="0"/>
          </a:p>
        </p:txBody>
      </p:sp>
      <p:sp>
        <p:nvSpPr>
          <p:cNvPr id="21" name="Text 14"/>
          <p:cNvSpPr txBox="1"/>
          <p:nvPr/>
        </p:nvSpPr>
        <p:spPr>
          <a:xfrm>
            <a:off x="7315200" y="2788920"/>
            <a:ext cx="37764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бытовая активность. Ты весь день на ногах с посылками — это база, которую не нужно создавать с нуля.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7315200" y="4526280"/>
            <a:ext cx="3776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Честный дневник. Без него разбор был бы догадками, а не работой с фактами.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856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ТОЧКА Б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Куда идём</a:t>
            </a:r>
            <a:endParaRPr lang="en-US" sz="3600" dirty="0"/>
          </a:p>
        </p:txBody>
      </p:sp>
      <p:pic>
        <p:nvPicPr>
          <p:cNvPr id="4" name="Image 0" descr="assets/fruitbod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74520"/>
            <a:ext cx="2926080" cy="4023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977640" y="1783080"/>
            <a:ext cx="7528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856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кг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3977640" y="2834640"/>
            <a:ext cx="75282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цель, которую держим в голове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3977640" y="3383280"/>
            <a:ext cx="75282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spc="80" kern="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ТЕМП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977640" y="3621024"/>
            <a:ext cx="7528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0,4–0,7 кг в неделю — здоровый коридор без потери мышц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977640" y="4224528"/>
            <a:ext cx="75282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spc="80" kern="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3977640" y="4462272"/>
            <a:ext cx="7528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темпе 0,5 кг в неделю — [X] недель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977640" y="4828032"/>
            <a:ext cx="75282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Посчитаем точно, когда будет стартовый вес.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3977640" y="5230368"/>
            <a:ext cx="75282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spc="80" kern="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ПОЙМЁМ, ЧТО ДОШЛИ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977640" y="5468112"/>
            <a:ext cx="7528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 держится две недели без усилий, энергия ровная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856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НАБЛЮДЕНИЯ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я увидела в твоём дневнике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393338" cy="3383280"/>
          </a:xfrm>
          <a:prstGeom prst="roundRect">
            <a:avLst>
              <a:gd name="adj" fmla="val 4324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pic>
        <p:nvPicPr>
          <p:cNvPr id="5" name="Image 0" descr="icons/Activity_2F6B4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331720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3108960"/>
            <a:ext cx="25703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Скачки энергии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3913632"/>
            <a:ext cx="257037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Сытость уходит через два часа, дальше резкий голод.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4399178" y="1920240"/>
            <a:ext cx="3393338" cy="3383280"/>
          </a:xfrm>
          <a:prstGeom prst="roundRect">
            <a:avLst>
              <a:gd name="adj" fmla="val 4324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pic>
        <p:nvPicPr>
          <p:cNvPr id="9" name="Image 1" descr="icons/Cookie_2F6B4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658" y="2331720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810658" y="3108960"/>
            <a:ext cx="25703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Тяга к сладкому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4810658" y="3913632"/>
            <a:ext cx="257037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Чаще во второй половине дня и вечером.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8112557" y="1920240"/>
            <a:ext cx="3393338" cy="3383280"/>
          </a:xfrm>
          <a:prstGeom prst="roundRect">
            <a:avLst>
              <a:gd name="adj" fmla="val 4324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pic>
        <p:nvPicPr>
          <p:cNvPr id="13" name="Image 2" descr="icons/Salad_2F6B4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331720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524037" y="3108960"/>
            <a:ext cx="257037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Мало белка и клетчатки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8524037" y="3913632"/>
            <a:ext cx="257037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Сложных углеводов тоже мало — отсюда пустые калории.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85800" y="5486400"/>
            <a:ext cx="10820095" cy="566928"/>
          </a:xfrm>
          <a:prstGeom prst="roundRect">
            <a:avLst>
              <a:gd name="adj" fmla="val 25806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1097280" y="5614416"/>
            <a:ext cx="99971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не список ошибок. Это три точки, на которые можно повлиять едой.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C8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ВЫВОД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280160"/>
            <a:ext cx="64008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Тяга к сладкому — не слабая воля.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C8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физиологический голод.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4709160"/>
            <a:ext cx="6400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8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Быстрые углеводы поднимают сахар в крови и роняют его так же быстро. Организм снова требует топлива — и именно быстрого.</a:t>
            </a:r>
            <a:endParaRPr lang="en-US" sz="1800" dirty="0"/>
          </a:p>
        </p:txBody>
      </p:sp>
      <p:pic>
        <p:nvPicPr>
          <p:cNvPr id="5" name="Image 0" descr="assets/donu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3975" y="1874520"/>
            <a:ext cx="3931920" cy="3108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856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МЕХАНИКА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Солома горит минуту, дрова — пять часов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87452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85800" y="18745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энергия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2331720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AE4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«Солома»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26280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4E8F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«Дрова»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818120" y="1874520"/>
            <a:ext cx="3687775" cy="1920240"/>
          </a:xfrm>
          <a:prstGeom prst="roundRect">
            <a:avLst>
              <a:gd name="adj" fmla="val 7619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83880" y="2148840"/>
            <a:ext cx="2956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AE4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«Солома»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183880" y="2560320"/>
            <a:ext cx="2956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Булочка, конфета. Вспыхивает за минуты — через час резкий голод.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818120" y="3931920"/>
            <a:ext cx="3687775" cy="2148840"/>
          </a:xfrm>
          <a:prstGeom prst="roundRect">
            <a:avLst>
              <a:gd name="adj" fmla="val 6809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83880" y="4206240"/>
            <a:ext cx="295625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«Дрова»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4617720"/>
            <a:ext cx="29562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Белок и сложные углеводы. Горят долго: сытость 4–5 часов, энергия ровная.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856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Твой главный инструмент — тарелка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828800"/>
          <a:ext cx="4937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216712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45352" y="2103120"/>
            <a:ext cx="52605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Клетчатка — твой щит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245352" y="2542032"/>
            <a:ext cx="52605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Овощи, зелень, ягоды. Замедляет сахар.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806440" y="326440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C89A4B"/>
          </a:solidFill>
          <a:ln w="12700">
            <a:solidFill>
              <a:srgbClr val="C89A4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45352" y="3200400"/>
            <a:ext cx="52605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Белок — твой тонус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245352" y="3639312"/>
            <a:ext cx="52605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Курица, рыба, яйца, творог. Сытость.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806440" y="4361688"/>
            <a:ext cx="237744" cy="237744"/>
          </a:xfrm>
          <a:prstGeom prst="roundRect">
            <a:avLst>
              <a:gd name="adj" fmla="val 23077"/>
            </a:avLst>
          </a:prstGeom>
          <a:solidFill>
            <a:srgbClr val="8FA89B"/>
          </a:solidFill>
          <a:ln w="12700">
            <a:solidFill>
              <a:srgbClr val="8FA89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45352" y="4297680"/>
            <a:ext cx="526054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Сложные углеводы — энергия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6245352" y="4736592"/>
            <a:ext cx="52605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Крупы, макароны, хлеб. Энергия надолго.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85800" y="5468112"/>
            <a:ext cx="10820095" cy="603504"/>
          </a:xfrm>
          <a:prstGeom prst="roundRect">
            <a:avLst>
              <a:gd name="adj" fmla="val 24242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97280" y="5605272"/>
            <a:ext cx="9997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Тарелка — это всегда 100%. Про любимую вкусняшку — на следующем слайде.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856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вкусняшки есть своё место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212080" cy="3108960"/>
          </a:xfrm>
          <a:prstGeom prst="roundRect">
            <a:avLst>
              <a:gd name="adj" fmla="val 4706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19456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383280"/>
            <a:ext cx="4389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рациона за день — сбалансированная еда: тарелка, белок, клетчатка, сложные углеводы.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93815" y="1874520"/>
            <a:ext cx="5212080" cy="3108960"/>
          </a:xfrm>
          <a:prstGeom prst="roundRect">
            <a:avLst>
              <a:gd name="adj" fmla="val 4706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295" y="219456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7200" b="1" dirty="0">
                <a:solidFill>
                  <a:srgbClr val="856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6705295" y="3383280"/>
            <a:ext cx="4389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то, что ты любишь. Без пересчёта тарелки и без чувства вины.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5800" y="5257800"/>
            <a:ext cx="10820095" cy="822960"/>
          </a:xfrm>
          <a:prstGeom prst="roundRect">
            <a:avLst>
              <a:gd name="adj" fmla="val 17778"/>
            </a:avLst>
          </a:prstGeom>
          <a:solidFill>
            <a:srgbClr val="1E2A24"/>
          </a:solidFill>
          <a:ln w="12700">
            <a:solidFill>
              <a:srgbClr val="1E2A2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5458968"/>
            <a:ext cx="99971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Тарелка — про один приём пищи, 90/10 — про весь день. Разные шкалы.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856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ИНСТРУМЕНТ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Завтрак подстраивается под твой подъём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5212080" cy="3657600"/>
          </a:xfrm>
          <a:prstGeom prst="roundRect">
            <a:avLst>
              <a:gd name="adj" fmla="val 4000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pic>
        <p:nvPicPr>
          <p:cNvPr id="5" name="Image 0" descr="assets/nu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86000"/>
            <a:ext cx="1920240" cy="1920240"/>
          </a:xfrm>
          <a:prstGeom prst="rect">
            <a:avLst/>
          </a:prstGeom>
        </p:spPr>
      </p:pic>
      <p:pic>
        <p:nvPicPr>
          <p:cNvPr id="6" name="Image 1" descr="icons/AlarmClock_2F6B4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331720"/>
            <a:ext cx="457200" cy="4572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337560" y="2926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Подъём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4:00–5:00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3337560" y="3611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856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микро-завтрак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97280" y="44805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Варёное яйцо и авокадо. Или натуральный йогурт с горстью орехов.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293815" y="1874520"/>
            <a:ext cx="5212080" cy="3657600"/>
          </a:xfrm>
          <a:prstGeom prst="roundRect">
            <a:avLst>
              <a:gd name="adj" fmla="val 4000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pic>
        <p:nvPicPr>
          <p:cNvPr id="11" name="Image 2" descr="assets/omelet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295" y="2286000"/>
            <a:ext cx="1920240" cy="1920240"/>
          </a:xfrm>
          <a:prstGeom prst="rect">
            <a:avLst/>
          </a:prstGeom>
        </p:spPr>
      </p:pic>
      <p:pic>
        <p:nvPicPr>
          <p:cNvPr id="12" name="Image 3" descr="icons/Sunrise_2F6B4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5575" y="2331720"/>
            <a:ext cx="457200" cy="45720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945575" y="292608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Подъём</a:t>
            </a:r>
            <a:endParaRPr lang="en-US" sz="2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7:00–8:00</a:t>
            </a:r>
            <a:endParaRPr lang="en-US" sz="2000" dirty="0"/>
          </a:p>
        </p:txBody>
      </p:sp>
      <p:sp>
        <p:nvSpPr>
          <p:cNvPr id="14" name="Text 8"/>
          <p:cNvSpPr txBox="1"/>
          <p:nvPr/>
        </p:nvSpPr>
        <p:spPr>
          <a:xfrm>
            <a:off x="8945575" y="36118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856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сытный завтрак</a:t>
            </a:r>
            <a:endParaRPr lang="en-US" sz="1500" dirty="0"/>
          </a:p>
        </p:txBody>
      </p:sp>
      <p:sp>
        <p:nvSpPr>
          <p:cNvPr id="15" name="Text 9"/>
          <p:cNvSpPr txBox="1"/>
          <p:nvPr/>
        </p:nvSpPr>
        <p:spPr>
          <a:xfrm>
            <a:off x="6705295" y="44805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Омлет с сыром и овощами. Или овсянка с творогом.</a:t>
            </a:r>
            <a:endParaRPr lang="en-US" sz="1800" dirty="0"/>
          </a:p>
        </p:txBody>
      </p:sp>
      <p:sp>
        <p:nvSpPr>
          <p:cNvPr id="16" name="Text 10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cak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9575" y="566928"/>
            <a:ext cx="4846320" cy="5486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548640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C8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822960"/>
            <a:ext cx="562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Сладкое остаётся в рационе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85800" y="2240280"/>
            <a:ext cx="5623560" cy="1645920"/>
          </a:xfrm>
          <a:prstGeom prst="roundRect">
            <a:avLst>
              <a:gd name="adj" fmla="val 8889"/>
            </a:avLst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2468880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C8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ПРАВИЛО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27889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Конфета — только сразу после полноценной тарелки.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114800"/>
            <a:ext cx="5623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8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Белок, жир и клетчатка из тарелки замедляют всасывание сахара. Тот же десерт не даёт резкого скачка — и не тянет за собой голод через час.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596128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C8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Ничего не запрещаем. Меняем только момент.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856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Первая неделя: два действия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212080" cy="2286000"/>
          </a:xfrm>
          <a:prstGeom prst="roundRect">
            <a:avLst>
              <a:gd name="adj" fmla="val 6400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48840"/>
            <a:ext cx="566928" cy="566928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2311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Гибкий завтрак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97180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Завтракаешь в течение часа после подъёма.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93815" y="1828800"/>
            <a:ext cx="5212080" cy="2286000"/>
          </a:xfrm>
          <a:prstGeom prst="roundRect">
            <a:avLst>
              <a:gd name="adj" fmla="val 6400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05295" y="2148840"/>
            <a:ext cx="566928" cy="566928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05295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36815" y="22311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Сладкое — после еды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705295" y="297180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отменяем. Сдвигаем на момент сразу после тарелки.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45720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spc="80" kern="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Пн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45720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spc="80" kern="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45720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spc="80" kern="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45720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spc="80" kern="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35240" y="45720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spc="80" kern="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Пт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45720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spc="80" kern="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195560" y="457200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b="1" spc="80" kern="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50383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Завтрак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514600" y="4919472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DE8DD"/>
          </a:solidFill>
          <a:ln w="12700">
            <a:solidFill>
              <a:srgbClr val="E0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4919472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DE8DD"/>
          </a:solidFill>
          <a:ln w="12700">
            <a:solidFill>
              <a:srgbClr val="E0DAC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74920" y="4919472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DE8DD"/>
          </a:solidFill>
          <a:ln w="12700">
            <a:solidFill>
              <a:srgbClr val="E0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4919472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DE8DD"/>
          </a:solidFill>
          <a:ln w="12700">
            <a:solidFill>
              <a:srgbClr val="E0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35240" y="4919472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DE8DD"/>
          </a:solidFill>
          <a:ln w="12700">
            <a:solidFill>
              <a:srgbClr val="E0DA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915400" y="4919472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DE8DD"/>
          </a:solidFill>
          <a:ln w="12700">
            <a:solidFill>
              <a:srgbClr val="E0DAC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95560" y="4919472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DE8DD"/>
          </a:solidFill>
          <a:ln w="12700">
            <a:solidFill>
              <a:srgbClr val="E0DAC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56327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Сладкое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514600" y="5513832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DE8DD"/>
          </a:solidFill>
          <a:ln w="12700">
            <a:solidFill>
              <a:srgbClr val="E0DA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94760" y="5513832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DE8DD"/>
          </a:solidFill>
          <a:ln w="12700">
            <a:solidFill>
              <a:srgbClr val="E0DAC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74920" y="5513832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DE8DD"/>
          </a:solidFill>
          <a:ln w="12700">
            <a:solidFill>
              <a:srgbClr val="E0DAC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5513832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DE8DD"/>
          </a:solidFill>
          <a:ln w="12700">
            <a:solidFill>
              <a:srgbClr val="E0DAC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5240" y="5513832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DE8DD"/>
          </a:solidFill>
          <a:ln w="12700">
            <a:solidFill>
              <a:srgbClr val="E0DAC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15400" y="5513832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DE8DD"/>
          </a:solidFill>
          <a:ln w="12700">
            <a:solidFill>
              <a:srgbClr val="E0DAC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95560" y="5513832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EDE8DD"/>
          </a:solidFill>
          <a:ln w="12700">
            <a:solidFill>
              <a:srgbClr val="E0DAC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856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ЗАМЕРЫ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Смотрим не только на весы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10820095" cy="3520440"/>
          </a:xfrm>
          <a:prstGeom prst="roundRect">
            <a:avLst>
              <a:gd name="adj" fmla="val 4156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pic>
        <p:nvPicPr>
          <p:cNvPr id="5" name="Image 0" descr="icons/BatteryCharging_2F6B4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203704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222199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Энергия днём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89320" y="2267712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73368" y="2267712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757416" y="2267712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41464" y="2267712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25512" y="2267712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38160" y="226771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валит с ног, 5 — ровно</a:t>
            </a:r>
            <a:endParaRPr lang="en-US" sz="1300" dirty="0"/>
          </a:p>
        </p:txBody>
      </p:sp>
      <p:pic>
        <p:nvPicPr>
          <p:cNvPr id="13" name="Image 1" descr="icons/Utensils_2F6B4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825496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00200" y="284378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Голод между приёмами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5989320" y="2889504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73368" y="2889504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757416" y="2889504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41464" y="2889504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525512" y="2889504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138160" y="288950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— сытость держит долго</a:t>
            </a:r>
            <a:endParaRPr lang="en-US" sz="1300" dirty="0"/>
          </a:p>
        </p:txBody>
      </p:sp>
      <p:pic>
        <p:nvPicPr>
          <p:cNvPr id="21" name="Image 2" descr="icons/Moon_2F6B4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44728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600200" y="346557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сна</a:t>
            </a:r>
            <a:endParaRPr lang="en-US" sz="1800" dirty="0"/>
          </a:p>
        </p:txBody>
      </p:sp>
      <p:sp>
        <p:nvSpPr>
          <p:cNvPr id="23" name="Shape 18"/>
          <p:cNvSpPr/>
          <p:nvPr/>
        </p:nvSpPr>
        <p:spPr>
          <a:xfrm>
            <a:off x="5989320" y="3511296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373368" y="3511296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757416" y="3511296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141464" y="3511296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7525512" y="3511296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138160" y="351129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— разбитая, 5 — выспалась</a:t>
            </a:r>
            <a:endParaRPr lang="en-US" sz="1300" dirty="0"/>
          </a:p>
        </p:txBody>
      </p:sp>
      <p:pic>
        <p:nvPicPr>
          <p:cNvPr id="29" name="Image 3" descr="icons/Candy_2F6B4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069080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600200" y="40873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Тяга к сладкому</a:t>
            </a:r>
            <a:endParaRPr lang="en-US" sz="1800" dirty="0"/>
          </a:p>
        </p:txBody>
      </p:sp>
      <p:sp>
        <p:nvSpPr>
          <p:cNvPr id="31" name="Shape 25"/>
          <p:cNvSpPr/>
          <p:nvPr/>
        </p:nvSpPr>
        <p:spPr>
          <a:xfrm>
            <a:off x="5989320" y="4133088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373368" y="4133088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757416" y="4133088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141464" y="4133088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525512" y="4133088"/>
            <a:ext cx="237744" cy="237744"/>
          </a:xfrm>
          <a:prstGeom prst="ellipse">
            <a:avLst/>
          </a:prstGeom>
          <a:solidFill>
            <a:srgbClr val="FBF9F5"/>
          </a:solidFill>
          <a:ln w="15875">
            <a:solidFill>
              <a:srgbClr val="2F6B4F"/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8138160" y="41330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— думаешь только о ней</a:t>
            </a:r>
            <a:endParaRPr lang="en-US" sz="1300" dirty="0"/>
          </a:p>
        </p:txBody>
      </p:sp>
      <p:pic>
        <p:nvPicPr>
          <p:cNvPr id="37" name="Image 4" descr="icons/Scale_2F6B4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690872"/>
            <a:ext cx="365760" cy="36576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600200" y="4709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</a:t>
            </a:r>
            <a:endParaRPr lang="en-US" sz="1800" dirty="0"/>
          </a:p>
        </p:txBody>
      </p:sp>
      <p:sp>
        <p:nvSpPr>
          <p:cNvPr id="39" name="Text 32"/>
          <p:cNvSpPr txBox="1"/>
          <p:nvPr/>
        </p:nvSpPr>
        <p:spPr>
          <a:xfrm>
            <a:off x="8138160" y="47548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 в неделю, утром, натощак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685800" y="5532120"/>
            <a:ext cx="108200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2F6B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 может стоять неделю, пока меняются объёмы и состав тела. Это нормально.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856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СТРАХОВКА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день пошёл не по плану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393338" cy="3246120"/>
          </a:xfrm>
          <a:prstGeom prst="roundRect">
            <a:avLst>
              <a:gd name="adj" fmla="val 4507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94560"/>
            <a:ext cx="566928" cy="566928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880360"/>
            <a:ext cx="25703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отыгрываемся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3840480"/>
            <a:ext cx="257037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приём пищи — обычный, по тарелке.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99178" y="1874520"/>
            <a:ext cx="3393338" cy="3246120"/>
          </a:xfrm>
          <a:prstGeom prst="roundRect">
            <a:avLst>
              <a:gd name="adj" fmla="val 4507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10658" y="2194560"/>
            <a:ext cx="566928" cy="566928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10658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810658" y="2880360"/>
            <a:ext cx="25703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ждём понедельника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810658" y="3840480"/>
            <a:ext cx="257037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Возвращаемся с ближайшего приёма пищи.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12557" y="1874520"/>
            <a:ext cx="3393338" cy="3246120"/>
          </a:xfrm>
          <a:prstGeom prst="roundRect">
            <a:avLst>
              <a:gd name="adj" fmla="val 4507"/>
            </a:avLst>
          </a:prstGeom>
          <a:solidFill>
            <a:srgbClr val="EDE8DD"/>
          </a:solidFill>
          <a:ln w="12700">
            <a:solidFill>
              <a:srgbClr val="EDE8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24037" y="2194560"/>
            <a:ext cx="566928" cy="566928"/>
          </a:xfrm>
          <a:prstGeom prst="ellipse">
            <a:avLst/>
          </a:prstGeom>
          <a:solidFill>
            <a:srgbClr val="2F6B4F"/>
          </a:solidFill>
          <a:ln w="12700">
            <a:solidFill>
              <a:srgbClr val="2F6B4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24037" y="2194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24037" y="2880360"/>
            <a:ext cx="257037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1E2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Записываем как есть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524037" y="3840480"/>
            <a:ext cx="257037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дневник идёт всё. Это данные, а не приговор.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85800" y="5349240"/>
            <a:ext cx="10820095" cy="731520"/>
          </a:xfrm>
          <a:prstGeom prst="roundRect">
            <a:avLst>
              <a:gd name="adj" fmla="val 20000"/>
            </a:avLst>
          </a:prstGeom>
          <a:solidFill>
            <a:srgbClr val="1E2A24"/>
          </a:solidFill>
          <a:ln w="12700">
            <a:solidFill>
              <a:srgbClr val="1E2A2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5559552"/>
            <a:ext cx="99971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день ничего не решает. Решает то, что ты делаешь завтра.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A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48640"/>
            <a:ext cx="108200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C8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108200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дальше</a:t>
            </a:r>
            <a:endParaRPr lang="en-US" sz="3600" dirty="0"/>
          </a:p>
        </p:txBody>
      </p:sp>
      <p:pic>
        <p:nvPicPr>
          <p:cNvPr id="4" name="Image 0" descr="icons/CalendarCheck_F4F1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9397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205740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Неделя 1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245973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8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Гибкий завтрак, сладкое — после еды.</a:t>
            </a:r>
            <a:endParaRPr lang="en-US" sz="1800" dirty="0"/>
          </a:p>
        </p:txBody>
      </p:sp>
      <p:pic>
        <p:nvPicPr>
          <p:cNvPr id="7" name="Image 1" descr="icons/NotebookPen_F4F1E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054096"/>
            <a:ext cx="402336" cy="40233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34440" y="30175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Дневник и шкалы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1234440" y="341985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8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Записи плюс четыре оценки 1–5 вечером.</a:t>
            </a:r>
            <a:endParaRPr lang="en-US" sz="1800" dirty="0"/>
          </a:p>
        </p:txBody>
      </p:sp>
      <p:pic>
        <p:nvPicPr>
          <p:cNvPr id="10" name="Image 2" descr="icons/MessageCircle_F4F1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014216"/>
            <a:ext cx="402336" cy="40233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34440" y="3977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7 дней — разбор</a:t>
            </a:r>
            <a:endParaRPr lang="en-US" sz="2000" dirty="0"/>
          </a:p>
        </p:txBody>
      </p:sp>
      <p:sp>
        <p:nvSpPr>
          <p:cNvPr id="12" name="Text 7"/>
          <p:cNvSpPr txBox="1"/>
          <p:nvPr/>
        </p:nvSpPr>
        <p:spPr>
          <a:xfrm>
            <a:off x="1234440" y="4379976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8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Смотрим, что сработало и что меняем.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6675120" y="2011680"/>
            <a:ext cx="4830775" cy="2423160"/>
          </a:xfrm>
          <a:prstGeom prst="roundRect">
            <a:avLst>
              <a:gd name="adj" fmla="val 6038"/>
            </a:avLst>
          </a:prstGeom>
          <a:solidFill>
            <a:srgbClr val="2A3A32"/>
          </a:solidFill>
          <a:ln w="12700">
            <a:solidFill>
              <a:srgbClr val="2A3A3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086600" y="2286000"/>
            <a:ext cx="4005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40" kern="0" dirty="0">
                <a:solidFill>
                  <a:srgbClr val="C89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СВЯЗЬ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7086600" y="260604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@olga_nutri_health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7086600" y="303580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8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7086600" y="3474720"/>
            <a:ext cx="4005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A8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Пиши, если что-то не сходится. Не жди конца недели.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5440680"/>
            <a:ext cx="10820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 носит рекомендательный характер и не заменяет консультацию врача. При хронических заболеваниях, беременности, приёме лекарств или отклонениях в анализах согласуй изменения питания с лечащим врачом.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10591495" y="6355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A8B3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Путь к лёгкости и энергии</dc:title>
  <dc:subject>PptxGenJS Presentation</dc:subject>
  <dc:creator>Нутрициолог Ольга Алёхина</dc:creator>
  <cp:lastModifiedBy>Нутрициолог Ольга Алёхина</cp:lastModifiedBy>
  <cp:revision>1</cp:revision>
  <dcterms:created xsi:type="dcterms:W3CDTF">2026-08-27T06:01:44Z</dcterms:created>
  <dcterms:modified xsi:type="dcterms:W3CDTF">2026-08-27T06:01:44Z</dcterms:modified>
</cp:coreProperties>
</file>